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6916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1"/>
  </p:normalViewPr>
  <p:slideViewPr>
    <p:cSldViewPr snapToGrid="0" snapToObjects="1">
      <p:cViewPr varScale="1">
        <p:scale>
          <a:sx n="88" d="100"/>
          <a:sy n="88" d="100"/>
        </p:scale>
        <p:origin x="200" y="2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m_pp_poster.pdf.png"/>
          <p:cNvPicPr>
            <a:picLocks noChangeAspect="1"/>
          </p:cNvPicPr>
          <p:nvPr/>
        </p:nvPicPr>
        <p:blipFill>
          <a:blip r:embed="rId2"/>
          <a:stretch>
            <a:fillRect/>
          </a:stretch>
        </p:blipFill>
        <p:spPr>
          <a:xfrm>
            <a:off x="0" y="0"/>
            <a:ext cx="16916400" cy="8229600"/>
          </a:xfrm>
          <a:prstGeom prst="rect">
            <a:avLst/>
          </a:prstGeom>
        </p:spPr>
      </p:pic>
      <p:sp>
        <p:nvSpPr>
          <p:cNvPr id="3" name="Rectangle 2"/>
          <p:cNvSpPr/>
          <p:nvPr/>
        </p:nvSpPr>
        <p:spPr>
          <a:xfrm>
            <a:off x="10058400" y="0"/>
            <a:ext cx="6492240" cy="9326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amarr-logo-2023.png"/>
          <p:cNvPicPr>
            <a:picLocks noChangeAspect="1"/>
          </p:cNvPicPr>
          <p:nvPr/>
        </p:nvPicPr>
        <p:blipFill>
          <a:blip r:embed="rId3"/>
          <a:stretch>
            <a:fillRect/>
          </a:stretch>
        </p:blipFill>
        <p:spPr>
          <a:xfrm>
            <a:off x="10652760" y="173736"/>
            <a:ext cx="762704" cy="420624"/>
          </a:xfrm>
          <a:prstGeom prst="rect">
            <a:avLst/>
          </a:prstGeom>
        </p:spPr>
      </p:pic>
      <p:pic>
        <p:nvPicPr>
          <p:cNvPr id="5" name="Picture 4" descr="uni_bonn.png"/>
          <p:cNvPicPr>
            <a:picLocks noChangeAspect="1"/>
          </p:cNvPicPr>
          <p:nvPr/>
        </p:nvPicPr>
        <p:blipFill>
          <a:blip r:embed="rId4"/>
          <a:stretch>
            <a:fillRect/>
          </a:stretch>
        </p:blipFill>
        <p:spPr>
          <a:xfrm>
            <a:off x="12618720" y="128016"/>
            <a:ext cx="1303113" cy="502920"/>
          </a:xfrm>
          <a:prstGeom prst="rect">
            <a:avLst/>
          </a:prstGeom>
        </p:spPr>
      </p:pic>
      <p:pic>
        <p:nvPicPr>
          <p:cNvPr id="6" name="Picture 5" descr="iais.png"/>
          <p:cNvPicPr>
            <a:picLocks noChangeAspect="1"/>
          </p:cNvPicPr>
          <p:nvPr/>
        </p:nvPicPr>
        <p:blipFill>
          <a:blip r:embed="rId5"/>
          <a:stretch>
            <a:fillRect/>
          </a:stretch>
        </p:blipFill>
        <p:spPr>
          <a:xfrm>
            <a:off x="14246352" y="128016"/>
            <a:ext cx="1932753" cy="530352"/>
          </a:xfrm>
          <a:prstGeom prst="rect">
            <a:avLst/>
          </a:prstGeom>
        </p:spPr>
      </p:pic>
      <p:pic>
        <p:nvPicPr>
          <p:cNvPr id="7" name="Picture 6" descr="tu-potsdam-flat.png"/>
          <p:cNvPicPr>
            <a:picLocks noChangeAspect="1"/>
          </p:cNvPicPr>
          <p:nvPr/>
        </p:nvPicPr>
        <p:blipFill>
          <a:blip r:embed="rId6"/>
          <a:stretch>
            <a:fillRect/>
          </a:stretch>
        </p:blipFill>
        <p:spPr>
          <a:xfrm>
            <a:off x="16047720" y="164592"/>
            <a:ext cx="361419" cy="384048"/>
          </a:xfrm>
          <a:prstGeom prst="rect">
            <a:avLst/>
          </a:prstGeom>
        </p:spPr>
      </p:pic>
      <p:pic>
        <p:nvPicPr>
          <p:cNvPr id="9" name="Picture 8" descr="qrcode.svg.png"/>
          <p:cNvPicPr>
            <a:picLocks noChangeAspect="1"/>
          </p:cNvPicPr>
          <p:nvPr/>
        </p:nvPicPr>
        <p:blipFill>
          <a:blip r:embed="rId7"/>
          <a:stretch>
            <a:fillRect/>
          </a:stretch>
        </p:blipFill>
        <p:spPr>
          <a:xfrm>
            <a:off x="3803904" y="1197864"/>
            <a:ext cx="438912" cy="438912"/>
          </a:xfrm>
          <a:prstGeom prst="rect">
            <a:avLst/>
          </a:prstGeom>
        </p:spPr>
      </p:pic>
      <p:sp>
        <p:nvSpPr>
          <p:cNvPr id="10" name="Rectangle 9"/>
          <p:cNvSpPr/>
          <p:nvPr/>
        </p:nvSpPr>
        <p:spPr>
          <a:xfrm>
            <a:off x="0" y="1682496"/>
            <a:ext cx="4882896" cy="10789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 y="1755648"/>
            <a:ext cx="4663440" cy="914400"/>
          </a:xfrm>
          <a:prstGeom prst="rect">
            <a:avLst/>
          </a:prstGeom>
          <a:noFill/>
        </p:spPr>
        <p:txBody>
          <a:bodyPr wrap="square" lIns="18288" tIns="9144" rIns="18288" bIns="9144" anchor="t">
            <a:spAutoFit/>
          </a:bodyPr>
          <a:lstStyle/>
          <a:p>
            <a:pPr algn="l"/>
            <a:r>
              <a:rPr sz="1100" b="0" i="0">
                <a:solidFill>
                  <a:srgbClr val="242931"/>
                </a:solidFill>
                <a:latin typeface="Arial"/>
              </a:rPr>
              <a:t>Modeling irregular marked event sequences as temporal point processes gives an interpretable description of when events occur and which type they have. Existing neural TPP models usually learn one dataset at a time. FIM-PP is a pretrained recognition model that infers conditional intensities in context from a set of related event sequences.
We pretrain on 72K synthetic processes and 14.4M events. The same model can then be applied zero-shot to real-world event data or adapted within minutes by fine-tuning.</a:t>
            </a:r>
          </a:p>
        </p:txBody>
      </p:sp>
      <p:sp>
        <p:nvSpPr>
          <p:cNvPr id="12" name="Rounded Rectangle 11"/>
          <p:cNvSpPr/>
          <p:nvPr/>
        </p:nvSpPr>
        <p:spPr>
          <a:xfrm>
            <a:off x="73152" y="2901986"/>
            <a:ext cx="4645152" cy="585216"/>
          </a:xfrm>
          <a:prstGeom prst="roundRect">
            <a:avLst>
              <a:gd name="adj" fmla="val 2000"/>
            </a:avLst>
          </a:prstGeom>
          <a:solidFill>
            <a:srgbClr val="F4F8FD"/>
          </a:solidFill>
          <a:ln w="12700">
            <a:solidFill>
              <a:srgbClr val="D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6304" y="3108959"/>
            <a:ext cx="4535424" cy="420624"/>
          </a:xfrm>
          <a:prstGeom prst="rect">
            <a:avLst/>
          </a:prstGeom>
          <a:noFill/>
        </p:spPr>
        <p:txBody>
          <a:bodyPr wrap="square" lIns="18288" tIns="9144" rIns="18288" bIns="9144" anchor="t">
            <a:spAutoFit/>
          </a:bodyPr>
          <a:lstStyle/>
          <a:p>
            <a:pPr algn="l"/>
            <a:r>
              <a:rPr sz="1030" b="0" i="0" dirty="0">
                <a:solidFill>
                  <a:srgbClr val="242931"/>
                </a:solidFill>
                <a:latin typeface="Arial"/>
              </a:rPr>
              <a:t>Key message
One pretrained model already competes with specialized TPP baselines; fine-tuning turns that prior into the strongest long-horizon performer.</a:t>
            </a:r>
          </a:p>
        </p:txBody>
      </p:sp>
      <p:sp>
        <p:nvSpPr>
          <p:cNvPr id="14" name="Rectangle 13"/>
          <p:cNvSpPr/>
          <p:nvPr/>
        </p:nvSpPr>
        <p:spPr>
          <a:xfrm>
            <a:off x="0" y="3913631"/>
            <a:ext cx="4882896" cy="4187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 y="3749039"/>
            <a:ext cx="2606040" cy="164592"/>
          </a:xfrm>
          <a:prstGeom prst="rect">
            <a:avLst/>
          </a:prstGeom>
          <a:noFill/>
        </p:spPr>
        <p:txBody>
          <a:bodyPr wrap="square" lIns="18288" tIns="9144" rIns="18288" bIns="9144" anchor="t">
            <a:spAutoFit/>
          </a:bodyPr>
          <a:lstStyle/>
          <a:p>
            <a:pPr algn="l"/>
            <a:r>
              <a:rPr sz="1080" b="1" i="0">
                <a:solidFill>
                  <a:srgbClr val="242931"/>
                </a:solidFill>
                <a:latin typeface="Arial"/>
              </a:rPr>
              <a:t>Marked temporal point processes</a:t>
            </a:r>
          </a:p>
        </p:txBody>
      </p:sp>
      <p:sp>
        <p:nvSpPr>
          <p:cNvPr id="16" name="TextBox 15"/>
          <p:cNvSpPr txBox="1"/>
          <p:nvPr/>
        </p:nvSpPr>
        <p:spPr>
          <a:xfrm>
            <a:off x="91440" y="4197094"/>
            <a:ext cx="2578608" cy="786384"/>
          </a:xfrm>
          <a:prstGeom prst="rect">
            <a:avLst/>
          </a:prstGeom>
          <a:noFill/>
        </p:spPr>
        <p:txBody>
          <a:bodyPr wrap="square" lIns="18288" tIns="9144" rIns="18288" bIns="9144" anchor="t">
            <a:spAutoFit/>
          </a:bodyPr>
          <a:lstStyle/>
          <a:p>
            <a:pPr algn="l"/>
            <a:r>
              <a:rPr sz="1010" b="0" i="0">
                <a:solidFill>
                  <a:srgbClr val="242931"/>
                </a:solidFill>
                <a:latin typeface="Arial"/>
              </a:rPr>
              <a:t>A marked temporal point process describes an event history Hₜ = {(t₁, k₁), ..., (tₙ, kₙ)} through a conditional intensity λ(t, k | Hₜ) that determines how likely an event of mark k is to occur at time t given the past.</a:t>
            </a:r>
          </a:p>
        </p:txBody>
      </p:sp>
      <p:sp>
        <p:nvSpPr>
          <p:cNvPr id="17" name="TextBox 16"/>
          <p:cNvSpPr txBox="1"/>
          <p:nvPr/>
        </p:nvSpPr>
        <p:spPr>
          <a:xfrm>
            <a:off x="91440" y="4773168"/>
            <a:ext cx="2606040" cy="164592"/>
          </a:xfrm>
          <a:prstGeom prst="rect">
            <a:avLst/>
          </a:prstGeom>
          <a:noFill/>
        </p:spPr>
        <p:txBody>
          <a:bodyPr wrap="square" lIns="18288" tIns="9144" rIns="18288" bIns="9144" anchor="t">
            <a:spAutoFit/>
          </a:bodyPr>
          <a:lstStyle/>
          <a:p>
            <a:pPr algn="l"/>
            <a:r>
              <a:rPr sz="1080" b="1" i="0">
                <a:solidFill>
                  <a:srgbClr val="242931"/>
                </a:solidFill>
                <a:latin typeface="Arial"/>
              </a:rPr>
              <a:t>What we want</a:t>
            </a:r>
          </a:p>
        </p:txBody>
      </p:sp>
      <p:sp>
        <p:nvSpPr>
          <p:cNvPr id="18" name="TextBox 17"/>
          <p:cNvSpPr txBox="1"/>
          <p:nvPr/>
        </p:nvSpPr>
        <p:spPr>
          <a:xfrm>
            <a:off x="91440" y="5221223"/>
            <a:ext cx="2578608" cy="603504"/>
          </a:xfrm>
          <a:prstGeom prst="rect">
            <a:avLst/>
          </a:prstGeom>
          <a:noFill/>
        </p:spPr>
        <p:txBody>
          <a:bodyPr wrap="square" lIns="18288" tIns="9144" rIns="18288" bIns="9144" anchor="t">
            <a:spAutoFit/>
          </a:bodyPr>
          <a:lstStyle/>
          <a:p>
            <a:pPr algn="l"/>
            <a:r>
              <a:rPr sz="1010" b="0" i="0" dirty="0">
                <a:solidFill>
                  <a:srgbClr val="242931"/>
                </a:solidFill>
                <a:latin typeface="Arial"/>
              </a:rPr>
              <a:t>From a set of observed sequences from one system, infer an interpretable mark-wise intensity model that transfers across datasets without retraining from scratch each time.</a:t>
            </a:r>
          </a:p>
        </p:txBody>
      </p:sp>
      <p:sp>
        <p:nvSpPr>
          <p:cNvPr id="19" name="TextBox 18"/>
          <p:cNvSpPr txBox="1"/>
          <p:nvPr/>
        </p:nvSpPr>
        <p:spPr>
          <a:xfrm>
            <a:off x="77724" y="5754914"/>
            <a:ext cx="2606040" cy="164592"/>
          </a:xfrm>
          <a:prstGeom prst="rect">
            <a:avLst/>
          </a:prstGeom>
          <a:noFill/>
        </p:spPr>
        <p:txBody>
          <a:bodyPr wrap="square" lIns="18288" tIns="9144" rIns="18288" bIns="9144" anchor="t">
            <a:spAutoFit/>
          </a:bodyPr>
          <a:lstStyle/>
          <a:p>
            <a:pPr algn="l"/>
            <a:r>
              <a:rPr sz="1080" b="1" i="0" dirty="0">
                <a:solidFill>
                  <a:srgbClr val="242931"/>
                </a:solidFill>
                <a:latin typeface="Arial"/>
              </a:rPr>
              <a:t>Why current practice is limiting</a:t>
            </a:r>
          </a:p>
        </p:txBody>
      </p:sp>
      <p:sp>
        <p:nvSpPr>
          <p:cNvPr id="20" name="TextBox 19"/>
          <p:cNvSpPr txBox="1"/>
          <p:nvPr/>
        </p:nvSpPr>
        <p:spPr>
          <a:xfrm>
            <a:off x="105156" y="6175537"/>
            <a:ext cx="2578608" cy="475488"/>
          </a:xfrm>
          <a:prstGeom prst="rect">
            <a:avLst/>
          </a:prstGeom>
          <a:noFill/>
        </p:spPr>
        <p:txBody>
          <a:bodyPr wrap="square" lIns="9144" tIns="9144" rIns="9144" bIns="9144">
            <a:spAutoFit/>
          </a:bodyPr>
          <a:lstStyle/>
          <a:p>
            <a:pPr>
              <a:spcAft>
                <a:spcPts val="100"/>
              </a:spcAft>
            </a:pPr>
            <a:r>
              <a:rPr sz="1000" dirty="0">
                <a:solidFill>
                  <a:srgbClr val="242931"/>
                </a:solidFill>
                <a:latin typeface="Arial"/>
              </a:rPr>
              <a:t>Standard neural TPPs relearn for every dataset.</a:t>
            </a:r>
          </a:p>
          <a:p>
            <a:pPr>
              <a:spcAft>
                <a:spcPts val="100"/>
              </a:spcAft>
            </a:pPr>
            <a:r>
              <a:rPr sz="1000" dirty="0">
                <a:solidFill>
                  <a:srgbClr val="242931"/>
                </a:solidFill>
                <a:latin typeface="Arial"/>
              </a:rPr>
              <a:t>Zero-shot application is largely unavailable.</a:t>
            </a:r>
          </a:p>
        </p:txBody>
      </p:sp>
      <p:sp>
        <p:nvSpPr>
          <p:cNvPr id="21" name="TextBox 20"/>
          <p:cNvSpPr txBox="1"/>
          <p:nvPr/>
        </p:nvSpPr>
        <p:spPr>
          <a:xfrm>
            <a:off x="91440" y="6431570"/>
            <a:ext cx="2606040" cy="164592"/>
          </a:xfrm>
          <a:prstGeom prst="rect">
            <a:avLst/>
          </a:prstGeom>
          <a:noFill/>
        </p:spPr>
        <p:txBody>
          <a:bodyPr wrap="square" lIns="18288" tIns="9144" rIns="18288" bIns="9144" anchor="t">
            <a:spAutoFit/>
          </a:bodyPr>
          <a:lstStyle/>
          <a:p>
            <a:pPr algn="l"/>
            <a:r>
              <a:rPr sz="1080" b="1" i="0" dirty="0">
                <a:solidFill>
                  <a:srgbClr val="242931"/>
                </a:solidFill>
                <a:latin typeface="Arial"/>
              </a:rPr>
              <a:t>What FIM-PP changes</a:t>
            </a:r>
          </a:p>
        </p:txBody>
      </p:sp>
      <p:sp>
        <p:nvSpPr>
          <p:cNvPr id="22" name="TextBox 21"/>
          <p:cNvSpPr txBox="1"/>
          <p:nvPr/>
        </p:nvSpPr>
        <p:spPr>
          <a:xfrm>
            <a:off x="73152" y="6632738"/>
            <a:ext cx="2578608" cy="731520"/>
          </a:xfrm>
          <a:prstGeom prst="rect">
            <a:avLst/>
          </a:prstGeom>
          <a:noFill/>
        </p:spPr>
        <p:txBody>
          <a:bodyPr wrap="square" lIns="9144" tIns="9144" rIns="9144" bIns="9144">
            <a:spAutoFit/>
          </a:bodyPr>
          <a:lstStyle/>
          <a:p>
            <a:pPr>
              <a:spcAft>
                <a:spcPts val="100"/>
              </a:spcAft>
            </a:pPr>
            <a:r>
              <a:rPr sz="1000" dirty="0">
                <a:solidFill>
                  <a:srgbClr val="242931"/>
                </a:solidFill>
                <a:latin typeface="Arial"/>
              </a:rPr>
              <a:t>Pretrain once on a broad synthetic prior.</a:t>
            </a:r>
          </a:p>
          <a:p>
            <a:pPr>
              <a:spcAft>
                <a:spcPts val="100"/>
              </a:spcAft>
            </a:pPr>
            <a:r>
              <a:rPr sz="1000" dirty="0">
                <a:solidFill>
                  <a:srgbClr val="242931"/>
                </a:solidFill>
                <a:latin typeface="Arial"/>
              </a:rPr>
              <a:t>Infer new dynamics directly from context.</a:t>
            </a:r>
          </a:p>
          <a:p>
            <a:pPr>
              <a:spcAft>
                <a:spcPts val="100"/>
              </a:spcAft>
            </a:pPr>
            <a:r>
              <a:rPr sz="1000" dirty="0">
                <a:solidFill>
                  <a:srgbClr val="242931"/>
                </a:solidFill>
                <a:latin typeface="Arial"/>
              </a:rPr>
              <a:t>Keep access to an explicit intensity estimate.</a:t>
            </a:r>
          </a:p>
        </p:txBody>
      </p:sp>
      <p:pic>
        <p:nvPicPr>
          <p:cNvPr id="23" name="Picture 22" descr="pp_visualization.jpeg"/>
          <p:cNvPicPr>
            <a:picLocks noChangeAspect="1"/>
          </p:cNvPicPr>
          <p:nvPr/>
        </p:nvPicPr>
        <p:blipFill>
          <a:blip r:embed="rId8"/>
          <a:stretch>
            <a:fillRect/>
          </a:stretch>
        </p:blipFill>
        <p:spPr>
          <a:xfrm>
            <a:off x="2697480" y="4169662"/>
            <a:ext cx="2093976" cy="3213528"/>
          </a:xfrm>
          <a:prstGeom prst="rect">
            <a:avLst/>
          </a:prstGeom>
        </p:spPr>
      </p:pic>
      <p:sp>
        <p:nvSpPr>
          <p:cNvPr id="24" name="Rectangle 23"/>
          <p:cNvSpPr/>
          <p:nvPr/>
        </p:nvSpPr>
        <p:spPr>
          <a:xfrm>
            <a:off x="5193792" y="1700784"/>
            <a:ext cx="557784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21808" y="1783080"/>
            <a:ext cx="3474720" cy="164592"/>
          </a:xfrm>
          <a:prstGeom prst="rect">
            <a:avLst/>
          </a:prstGeom>
          <a:noFill/>
        </p:spPr>
        <p:txBody>
          <a:bodyPr wrap="square" lIns="18288" tIns="9144" rIns="18288" bIns="9144" anchor="t">
            <a:spAutoFit/>
          </a:bodyPr>
          <a:lstStyle/>
          <a:p>
            <a:pPr algn="l"/>
            <a:r>
              <a:rPr sz="1100" b="1" i="0">
                <a:solidFill>
                  <a:srgbClr val="242931"/>
                </a:solidFill>
                <a:latin typeface="Arial"/>
              </a:rPr>
              <a:t>Part A: Synthetic training data generation</a:t>
            </a:r>
          </a:p>
        </p:txBody>
      </p:sp>
      <p:sp>
        <p:nvSpPr>
          <p:cNvPr id="26" name="TextBox 25"/>
          <p:cNvSpPr txBox="1"/>
          <p:nvPr/>
        </p:nvSpPr>
        <p:spPr>
          <a:xfrm>
            <a:off x="5321808" y="1965960"/>
            <a:ext cx="3840480" cy="182880"/>
          </a:xfrm>
          <a:prstGeom prst="rect">
            <a:avLst/>
          </a:prstGeom>
          <a:noFill/>
        </p:spPr>
        <p:txBody>
          <a:bodyPr wrap="square" lIns="18288" tIns="9144" rIns="18288" bIns="9144" anchor="t">
            <a:spAutoFit/>
          </a:bodyPr>
          <a:lstStyle/>
          <a:p>
            <a:pPr algn="l"/>
            <a:r>
              <a:rPr sz="1080" b="0" i="0">
                <a:solidFill>
                  <a:srgbClr val="242931"/>
                </a:solidFill>
                <a:latin typeface="Arial"/>
              </a:rPr>
              <a:t>We sample processes from a broad prior over conditional intensities</a:t>
            </a:r>
          </a:p>
        </p:txBody>
      </p:sp>
      <p:sp>
        <p:nvSpPr>
          <p:cNvPr id="27" name="Rectangle 26"/>
          <p:cNvSpPr/>
          <p:nvPr/>
        </p:nvSpPr>
        <p:spPr>
          <a:xfrm>
            <a:off x="5925312" y="2148840"/>
            <a:ext cx="3977639"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equation.png"/>
          <p:cNvPicPr>
            <a:picLocks noChangeAspect="1"/>
          </p:cNvPicPr>
          <p:nvPr/>
        </p:nvPicPr>
        <p:blipFill>
          <a:blip r:embed="rId9"/>
          <a:stretch>
            <a:fillRect/>
          </a:stretch>
        </p:blipFill>
        <p:spPr>
          <a:xfrm>
            <a:off x="5989320" y="2221992"/>
            <a:ext cx="3794760" cy="725665"/>
          </a:xfrm>
          <a:prstGeom prst="rect">
            <a:avLst/>
          </a:prstGeom>
        </p:spPr>
      </p:pic>
      <p:sp>
        <p:nvSpPr>
          <p:cNvPr id="29" name="TextBox 28"/>
          <p:cNvSpPr txBox="1"/>
          <p:nvPr/>
        </p:nvSpPr>
        <p:spPr>
          <a:xfrm>
            <a:off x="5367528" y="2818965"/>
            <a:ext cx="5230368" cy="640080"/>
          </a:xfrm>
          <a:prstGeom prst="rect">
            <a:avLst/>
          </a:prstGeom>
          <a:noFill/>
        </p:spPr>
        <p:txBody>
          <a:bodyPr wrap="square" lIns="18288" tIns="9144" rIns="18288" bIns="9144" anchor="t">
            <a:spAutoFit/>
          </a:bodyPr>
          <a:lstStyle/>
          <a:p>
            <a:pPr algn="l"/>
            <a:r>
              <a:rPr sz="1019" b="0" i="0" dirty="0">
                <a:solidFill>
                  <a:srgbClr val="242931"/>
                </a:solidFill>
                <a:latin typeface="Arial"/>
              </a:rPr>
              <a:t>where </a:t>
            </a:r>
            <a:r>
              <a:rPr sz="1019" b="0" i="0" dirty="0" err="1">
                <a:solidFill>
                  <a:srgbClr val="242931"/>
                </a:solidFill>
                <a:latin typeface="Arial"/>
              </a:rPr>
              <a:t>μ</a:t>
            </a:r>
            <a:r>
              <a:rPr sz="1019" b="0" i="0" dirty="0">
                <a:solidFill>
                  <a:srgbClr val="242931"/>
                </a:solidFill>
                <a:latin typeface="Arial"/>
              </a:rPr>
              <a:t>ₖ(t) is chosen as either a constant, a positive sinusoid, or a Gamma-shaped initial-rate function, and </a:t>
            </a:r>
            <a:r>
              <a:rPr sz="1019" b="0" i="0" dirty="0" err="1">
                <a:solidFill>
                  <a:srgbClr val="242931"/>
                </a:solidFill>
                <a:latin typeface="Arial"/>
              </a:rPr>
              <a:t>γ</a:t>
            </a:r>
            <a:r>
              <a:rPr sz="1019" b="0" i="0" dirty="0">
                <a:solidFill>
                  <a:srgbClr val="242931"/>
                </a:solidFill>
                <a:latin typeface="Arial"/>
              </a:rPr>
              <a:t>ₖₖ′(t) is chosen as either zero, an exponential Hawkes kernel, or a shifted Rayleigh kernel. Interaction signs zₖₖ′ ∈ {−1, 0, 1} cover excitatory, inhibitory, and neutral relations.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326</Words>
  <Application>Microsoft Macintosh PowerPoint</Application>
  <PresentationFormat>Custom</PresentationFormat>
  <Paragraphs>16</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Berghaus, David</cp:lastModifiedBy>
  <cp:revision>3</cp:revision>
  <dcterms:created xsi:type="dcterms:W3CDTF">2013-01-27T09:14:16Z</dcterms:created>
  <dcterms:modified xsi:type="dcterms:W3CDTF">2026-03-20T08:46:57Z</dcterms:modified>
  <cp:category/>
</cp:coreProperties>
</file>